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para el lector: el productor de la base canónica es la app Tauri de ventas y esta API la sirve por HTTP. El deck documenta qué expone, cómo se verificó y cómo se despliega.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actual del cliente ERP: cada sincronización lee todo y el equipo no sabe qué cambió desde la última pasada. La API resuelve las dos cosas con checksums y folios.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escritor (Tauri), una API de solo lectura, y los clientes que consultan por HTTP. La BD nunca se comparte por red como archivo.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ya conoce este flujo: es el mismo contrato de contraster y traer folios faltantes que hoy hace por SMB, ahora por HTTP con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grupo de sync alimenta al cliente en producción. El modelo completo permite trabajar offline con allowlist. La base canónica se descarga por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Verificación del 1 de octubre de 2026 contra la BD real: smoke test de 13 endpoints, paridad del checksum live contra la tabla mes_checksums del productor, y status en 8 segundos sobre el snapshot en ext4.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FortiEDR bloquea el listen() de binarios Go no firmados en Windows. Por eso el API corre en WSL2 y un forwarder Python expone el puerto a la intranet. La alternativa con admin es netsh portproxy más regla de firewall.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capas: la conexión no puede escribir, la whitelist limita qué se ve, y el token limita quién entra. Los valores van siempre parametrizados y los identificadores se validan contra la whitelist.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 completa: API verificada y desplegada. Fase 2 reemplaza el transporte del cliente; el contrato de sync ya está probado, así que el adaptador solo cambia el transporte.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archivo productor deja de circular como copia; los clientes se ponen al día por HTTP contra una sola fuente. El siguiente paso es el adaptador del cliente (fase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ghost-link-1"/>
          <p:cNvSpPr/>
          <p:nvPr/>
        </p:nvSpPr>
        <p:spPr>
          <a:xfrm>
            <a:off x="9902952" y="5907024"/>
            <a:ext cx="384048" cy="0"/>
          </a:xfrm>
          <a:prstGeom prst="line">
            <a:avLst/>
          </a:prstGeom>
          <a:noFill/>
          <a:ln w="19050">
            <a:solidFill>
              <a:srgbClr val="94A3B8">
                <a:alpha val="28000"/>
              </a:srgbClr>
            </a:solidFill>
            <a:prstDash val="solid"/>
            <a:tailEnd type="triangle"/>
          </a:ln>
        </p:spPr>
      </p:sp>
      <p:sp>
        <p:nvSpPr>
          <p:cNvPr id="3" name="slides-ghost-link-2"/>
          <p:cNvSpPr/>
          <p:nvPr/>
        </p:nvSpPr>
        <p:spPr>
          <a:xfrm>
            <a:off x="10543032" y="5907024"/>
            <a:ext cx="384048" cy="0"/>
          </a:xfrm>
          <a:prstGeom prst="line">
            <a:avLst/>
          </a:prstGeom>
          <a:noFill/>
          <a:ln w="19050">
            <a:solidFill>
              <a:srgbClr val="94A3B8">
                <a:alpha val="28000"/>
              </a:srgbClr>
            </a:solidFill>
            <a:prstDash val="solid"/>
            <a:tailEnd type="triangle"/>
          </a:ln>
        </p:spPr>
      </p:sp>
      <p:sp>
        <p:nvSpPr>
          <p:cNvPr id="4" name="slides-ghost-node-1"/>
          <p:cNvSpPr/>
          <p:nvPr/>
        </p:nvSpPr>
        <p:spPr>
          <a:xfrm>
            <a:off x="9646920" y="5779008"/>
            <a:ext cx="256032" cy="256032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5" name="slides-ghost-node-2"/>
          <p:cNvSpPr/>
          <p:nvPr/>
        </p:nvSpPr>
        <p:spPr>
          <a:xfrm>
            <a:off x="10287000" y="5779008"/>
            <a:ext cx="256032" cy="256032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6" name="slides-ghost-node-3"/>
          <p:cNvSpPr/>
          <p:nvPr/>
        </p:nvSpPr>
        <p:spPr>
          <a:xfrm>
            <a:off x="10927080" y="5779008"/>
            <a:ext cx="256032" cy="256032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7" name="slides-lead:Title"/>
          <p:cNvSpPr/>
          <p:nvPr/>
        </p:nvSpPr>
        <p:spPr>
          <a:xfrm>
            <a:off x="609905" y="23774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g360-ventas-api</a:t>
            </a:r>
            <a:endParaRPr lang="en-US" sz="4800" dirty="0"/>
          </a:p>
        </p:txBody>
      </p:sp>
      <p:sp>
        <p:nvSpPr>
          <p:cNvPr id="8" name="slides-field:Subtitle"/>
          <p:cNvSpPr/>
          <p:nvPr/>
        </p:nvSpPr>
        <p:spPr>
          <a:xfrm>
            <a:off x="609905" y="4023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base canónica de ventas, en solo lectura por HTTP a la intranet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itle-content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Hoy el cliente depende de copias manuales</a:t>
            </a:r>
            <a:endParaRPr lang="en-US" sz="3200" dirty="0"/>
          </a:p>
        </p:txBody>
      </p:sp>
      <p:sp>
        <p:nvSpPr>
          <p:cNvPr id="3" name="slides-field:Body"/>
          <p:cNvSpPr/>
          <p:nvPr/>
        </p:nvSpPr>
        <p:spPr>
          <a:xfrm>
            <a:off x="609905" y="1645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db_network.py lee la BD completa por SMB o por USB en zip: 2,8M de filas por pasada, sin control de frescura y con el archivo productor expuesto al acceso por red.</a:t>
            </a:r>
            <a:endParaRPr lang="en-US" sz="1800" dirty="0"/>
          </a:p>
        </p:txBody>
      </p:sp>
      <p:sp>
        <p:nvSpPr>
          <p:cNvPr id="4" name="deco-manual-link-1"/>
          <p:cNvSpPr/>
          <p:nvPr/>
        </p:nvSpPr>
        <p:spPr>
          <a:xfrm>
            <a:off x="4358488" y="3749040"/>
            <a:ext cx="1188720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5" name="deco-manual-link-2"/>
          <p:cNvSpPr/>
          <p:nvPr/>
        </p:nvSpPr>
        <p:spPr>
          <a:xfrm>
            <a:off x="6644488" y="3749040"/>
            <a:ext cx="1188720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6" name="deco-manual-node-1"/>
          <p:cNvSpPr/>
          <p:nvPr/>
        </p:nvSpPr>
        <p:spPr>
          <a:xfrm>
            <a:off x="3261208" y="3200400"/>
            <a:ext cx="1097280" cy="1097280"/>
          </a:xfrm>
          <a:prstGeom prst="rect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deco-manual-label-1"/>
          <p:cNvSpPr/>
          <p:nvPr/>
        </p:nvSpPr>
        <p:spPr>
          <a:xfrm>
            <a:off x="2804008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cliente</a:t>
            </a:r>
            <a:endParaRPr lang="en-US" sz="1200" dirty="0"/>
          </a:p>
        </p:txBody>
      </p:sp>
      <p:sp>
        <p:nvSpPr>
          <p:cNvPr id="8" name="deco-manual-node-2"/>
          <p:cNvSpPr/>
          <p:nvPr/>
        </p:nvSpPr>
        <p:spPr>
          <a:xfrm>
            <a:off x="5547208" y="3200400"/>
            <a:ext cx="1097280" cy="1097280"/>
          </a:xfrm>
          <a:prstGeom prst="rect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deco-manual-label-2"/>
          <p:cNvSpPr/>
          <p:nvPr/>
        </p:nvSpPr>
        <p:spPr>
          <a:xfrm>
            <a:off x="5090008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SMB o USB</a:t>
            </a:r>
            <a:endParaRPr lang="en-US" sz="1200" dirty="0"/>
          </a:p>
        </p:txBody>
      </p:sp>
      <p:sp>
        <p:nvSpPr>
          <p:cNvPr id="10" name="deco-manual-node-3"/>
          <p:cNvSpPr/>
          <p:nvPr/>
        </p:nvSpPr>
        <p:spPr>
          <a:xfrm>
            <a:off x="7833208" y="3200400"/>
            <a:ext cx="1097280" cy="1097280"/>
          </a:xfrm>
          <a:prstGeom prst="rect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deco-manual-label-3"/>
          <p:cNvSpPr/>
          <p:nvPr/>
        </p:nvSpPr>
        <p:spPr>
          <a:xfrm>
            <a:off x="7376008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 de historial.db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cadena, de extremo a extremo</a:t>
            </a:r>
            <a:endParaRPr lang="en-US" sz="3200" dirty="0"/>
          </a:p>
        </p:txBody>
      </p:sp>
      <p:sp>
        <p:nvSpPr>
          <p:cNvPr id="3" name="deco-chain-arrow-1"/>
          <p:cNvSpPr/>
          <p:nvPr/>
        </p:nvSpPr>
        <p:spPr>
          <a:xfrm>
            <a:off x="3801161" y="3154680"/>
            <a:ext cx="685800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4" name="deco-chain-arrow-2"/>
          <p:cNvSpPr/>
          <p:nvPr/>
        </p:nvSpPr>
        <p:spPr>
          <a:xfrm>
            <a:off x="7687361" y="3154680"/>
            <a:ext cx="685800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5" name="deco-chain-box-1"/>
          <p:cNvSpPr/>
          <p:nvPr/>
        </p:nvSpPr>
        <p:spPr>
          <a:xfrm>
            <a:off x="609905" y="2148840"/>
            <a:ext cx="3191256" cy="2011680"/>
          </a:xfrm>
          <a:prstGeom prst="rect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lides-field:Block"/>
          <p:cNvSpPr/>
          <p:nvPr/>
        </p:nvSpPr>
        <p:spPr>
          <a:xfrm>
            <a:off x="838505" y="246888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Tauri (Rust)</a:t>
            </a:r>
            <a:endParaRPr lang="en-US" sz="1800" dirty="0"/>
          </a:p>
        </p:txBody>
      </p:sp>
      <p:sp>
        <p:nvSpPr>
          <p:cNvPr id="7" name="slides-field:Block"/>
          <p:cNvSpPr/>
          <p:nvPr/>
        </p:nvSpPr>
        <p:spPr>
          <a:xfrm>
            <a:off x="838505" y="3108960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escritor único de historial.db</a:t>
            </a:r>
            <a:endParaRPr lang="en-US" sz="1200" dirty="0"/>
          </a:p>
        </p:txBody>
      </p:sp>
      <p:sp>
        <p:nvSpPr>
          <p:cNvPr id="8" name="deco-chain-box-2"/>
          <p:cNvSpPr/>
          <p:nvPr/>
        </p:nvSpPr>
        <p:spPr>
          <a:xfrm>
            <a:off x="4496105" y="2148840"/>
            <a:ext cx="3191256" cy="20116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" name="slides-field:Block"/>
          <p:cNvSpPr/>
          <p:nvPr/>
        </p:nvSpPr>
        <p:spPr>
          <a:xfrm>
            <a:off x="4724705" y="246888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Go</a:t>
            </a:r>
            <a:endParaRPr lang="en-US" sz="1800" dirty="0"/>
          </a:p>
        </p:txBody>
      </p:sp>
      <p:sp>
        <p:nvSpPr>
          <p:cNvPr id="10" name="slides-field:Block"/>
          <p:cNvSpPr/>
          <p:nvPr/>
        </p:nvSpPr>
        <p:spPr>
          <a:xfrm>
            <a:off x="4724705" y="3108960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:8090</a:t>
            </a:r>
            <a:endParaRPr lang="en-US" sz="1200" dirty="0"/>
          </a:p>
        </p:txBody>
      </p:sp>
      <p:sp>
        <p:nvSpPr>
          <p:cNvPr id="11" name="deco-chain-box-3"/>
          <p:cNvSpPr/>
          <p:nvPr/>
        </p:nvSpPr>
        <p:spPr>
          <a:xfrm>
            <a:off x="8382305" y="2148840"/>
            <a:ext cx="3191256" cy="2011680"/>
          </a:xfrm>
          <a:prstGeom prst="rect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slides-field:Block"/>
          <p:cNvSpPr/>
          <p:nvPr/>
        </p:nvSpPr>
        <p:spPr>
          <a:xfrm>
            <a:off x="8610905" y="246888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ERP</a:t>
            </a:r>
            <a:endParaRPr lang="en-US" sz="1800" dirty="0"/>
          </a:p>
        </p:txBody>
      </p:sp>
      <p:sp>
        <p:nvSpPr>
          <p:cNvPr id="13" name="slides-field:Block"/>
          <p:cNvSpPr/>
          <p:nvPr/>
        </p:nvSpPr>
        <p:spPr>
          <a:xfrm>
            <a:off x="8610905" y="3108960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 de folios y checksums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incremental en cinco pasos</a:t>
            </a:r>
            <a:endParaRPr lang="en-US" sz="3200" dirty="0"/>
          </a:p>
        </p:txBody>
      </p:sp>
      <p:sp>
        <p:nvSpPr>
          <p:cNvPr id="3" name="deco-step-box-1"/>
          <p:cNvSpPr/>
          <p:nvPr/>
        </p:nvSpPr>
        <p:spPr>
          <a:xfrm>
            <a:off x="609905" y="2286000"/>
            <a:ext cx="1865376" cy="228600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deco-step-arrow-1"/>
          <p:cNvSpPr/>
          <p:nvPr/>
        </p:nvSpPr>
        <p:spPr>
          <a:xfrm>
            <a:off x="2475281" y="3429000"/>
            <a:ext cx="411251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5" name="slides-field:Block"/>
          <p:cNvSpPr/>
          <p:nvPr/>
        </p:nvSpPr>
        <p:spPr>
          <a:xfrm>
            <a:off x="774497" y="25146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</a:t>
            </a:r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1800" dirty="0"/>
          </a:p>
        </p:txBody>
      </p:sp>
      <p:sp>
        <p:nvSpPr>
          <p:cNvPr id="6" name="slides-field:Block"/>
          <p:cNvSpPr/>
          <p:nvPr/>
        </p:nvSpPr>
        <p:spPr>
          <a:xfrm>
            <a:off x="774497" y="352044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credenciales intranet, token HMAC de 24 h</a:t>
            </a:r>
            <a:endParaRPr lang="en-US" sz="1200" dirty="0"/>
          </a:p>
        </p:txBody>
      </p:sp>
      <p:sp>
        <p:nvSpPr>
          <p:cNvPr id="7" name="deco-step-box-2"/>
          <p:cNvSpPr/>
          <p:nvPr/>
        </p:nvSpPr>
        <p:spPr>
          <a:xfrm>
            <a:off x="2886532" y="2286000"/>
            <a:ext cx="1865376" cy="228600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deco-step-arrow-2"/>
          <p:cNvSpPr/>
          <p:nvPr/>
        </p:nvSpPr>
        <p:spPr>
          <a:xfrm>
            <a:off x="4751908" y="3429000"/>
            <a:ext cx="411251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9" name="slides-field:Block"/>
          <p:cNvSpPr/>
          <p:nvPr/>
        </p:nvSpPr>
        <p:spPr>
          <a:xfrm>
            <a:off x="3051124" y="25146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</a:t>
            </a:r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y checksums</a:t>
            </a:r>
            <a:endParaRPr lang="en-US" sz="1800" dirty="0"/>
          </a:p>
        </p:txBody>
      </p:sp>
      <p:sp>
        <p:nvSpPr>
          <p:cNvPr id="10" name="slides-field:Block"/>
          <p:cNvSpPr/>
          <p:nvPr/>
        </p:nvSpPr>
        <p:spPr>
          <a:xfrm>
            <a:off x="3051124" y="352044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meses cambiaron desde la última sync</a:t>
            </a:r>
            <a:endParaRPr lang="en-US" sz="1200" dirty="0"/>
          </a:p>
        </p:txBody>
      </p:sp>
      <p:sp>
        <p:nvSpPr>
          <p:cNvPr id="11" name="deco-step-box-3"/>
          <p:cNvSpPr/>
          <p:nvPr/>
        </p:nvSpPr>
        <p:spPr>
          <a:xfrm>
            <a:off x="5163160" y="2286000"/>
            <a:ext cx="1865376" cy="228600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deco-step-arrow-3"/>
          <p:cNvSpPr/>
          <p:nvPr/>
        </p:nvSpPr>
        <p:spPr>
          <a:xfrm>
            <a:off x="7028536" y="3429000"/>
            <a:ext cx="411251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13" name="slides-field:Block"/>
          <p:cNvSpPr/>
          <p:nvPr/>
        </p:nvSpPr>
        <p:spPr>
          <a:xfrm>
            <a:off x="5327752" y="25146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</a:t>
            </a:r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Folios</a:t>
            </a:r>
            <a:endParaRPr lang="en-US" sz="1800" dirty="0"/>
          </a:p>
        </p:txBody>
      </p:sp>
      <p:sp>
        <p:nvSpPr>
          <p:cNvPr id="14" name="slides-field:Block"/>
          <p:cNvSpPr/>
          <p:nvPr/>
        </p:nvSpPr>
        <p:spPr>
          <a:xfrm>
            <a:off x="5327752" y="352044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folios del rango, consulta liviana</a:t>
            </a:r>
            <a:endParaRPr lang="en-US" sz="1200" dirty="0"/>
          </a:p>
        </p:txBody>
      </p:sp>
      <p:sp>
        <p:nvSpPr>
          <p:cNvPr id="15" name="deco-step-box-4"/>
          <p:cNvSpPr/>
          <p:nvPr/>
        </p:nvSpPr>
        <p:spPr>
          <a:xfrm>
            <a:off x="7439787" y="2286000"/>
            <a:ext cx="1865376" cy="228600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deco-step-arrow-4"/>
          <p:cNvSpPr/>
          <p:nvPr/>
        </p:nvSpPr>
        <p:spPr>
          <a:xfrm>
            <a:off x="9305163" y="3429000"/>
            <a:ext cx="411251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17" name="slides-field:Block"/>
          <p:cNvSpPr/>
          <p:nvPr/>
        </p:nvSpPr>
        <p:spPr>
          <a:xfrm>
            <a:off x="7604379" y="25146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</a:t>
            </a:r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By-folios</a:t>
            </a:r>
            <a:endParaRPr lang="en-US" sz="1800" dirty="0"/>
          </a:p>
        </p:txBody>
      </p:sp>
      <p:sp>
        <p:nvSpPr>
          <p:cNvPr id="18" name="slides-field:Block"/>
          <p:cNvSpPr/>
          <p:nvPr/>
        </p:nvSpPr>
        <p:spPr>
          <a:xfrm>
            <a:off x="7604379" y="352044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filas completas de los faltantes, máx 500 por request</a:t>
            </a:r>
            <a:endParaRPr lang="en-US" sz="1200" dirty="0"/>
          </a:p>
        </p:txBody>
      </p:sp>
      <p:sp>
        <p:nvSpPr>
          <p:cNvPr id="19" name="deco-step-box-5"/>
          <p:cNvSpPr/>
          <p:nvPr/>
        </p:nvSpPr>
        <p:spPr>
          <a:xfrm>
            <a:off x="9716414" y="2286000"/>
            <a:ext cx="1865376" cy="228600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0" name="slides-field:Block"/>
          <p:cNvSpPr/>
          <p:nvPr/>
        </p:nvSpPr>
        <p:spPr>
          <a:xfrm>
            <a:off x="9881006" y="251460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</a:t>
            </a:r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local</a:t>
            </a:r>
            <a:endParaRPr lang="en-US" sz="1800" dirty="0"/>
          </a:p>
        </p:txBody>
      </p:sp>
      <p:sp>
        <p:nvSpPr>
          <p:cNvPr id="21" name="slides-field:Block"/>
          <p:cNvSpPr/>
          <p:nvPr/>
        </p:nvSpPr>
        <p:spPr>
          <a:xfrm>
            <a:off x="9881006" y="352044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 por folio con la lógica existente del cliente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endpoints, tres grupos</a:t>
            </a:r>
            <a:endParaRPr lang="en-US" sz="3200" dirty="0"/>
          </a:p>
        </p:txBody>
      </p:sp>
      <p:sp>
        <p:nvSpPr>
          <p:cNvPr id="3" name="deco-card-hero"/>
          <p:cNvSpPr/>
          <p:nvPr/>
        </p:nvSpPr>
        <p:spPr>
          <a:xfrm>
            <a:off x="609905" y="2194560"/>
            <a:ext cx="5120640" cy="24688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" name="slides-field:Block"/>
          <p:cNvSpPr/>
          <p:nvPr/>
        </p:nvSpPr>
        <p:spPr>
          <a:xfrm>
            <a:off x="929945" y="2514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incremental</a:t>
            </a:r>
            <a:endParaRPr lang="en-US" sz="1800" dirty="0"/>
          </a:p>
        </p:txBody>
      </p:sp>
      <p:sp>
        <p:nvSpPr>
          <p:cNvPr id="5" name="slides-field:Block"/>
          <p:cNvSpPr/>
          <p:nvPr/>
        </p:nvSpPr>
        <p:spPr>
          <a:xfrm>
            <a:off x="929945" y="32918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endpoints: status, checksums, day-checksums, folios, by-folios, contrast</a:t>
            </a:r>
            <a:endParaRPr lang="en-US" sz="1800" dirty="0"/>
          </a:p>
        </p:txBody>
      </p:sp>
      <p:sp>
        <p:nvSpPr>
          <p:cNvPr id="6" name="deco-card-1"/>
          <p:cNvSpPr/>
          <p:nvPr/>
        </p:nvSpPr>
        <p:spPr>
          <a:xfrm>
            <a:off x="6281928" y="2194560"/>
            <a:ext cx="2459736" cy="246888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slides-field:Block"/>
          <p:cNvSpPr/>
          <p:nvPr/>
        </p:nvSpPr>
        <p:spPr>
          <a:xfrm>
            <a:off x="6510528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800" dirty="0"/>
          </a:p>
        </p:txBody>
      </p:sp>
      <p:sp>
        <p:nvSpPr>
          <p:cNvPr id="8" name="slides-field:Block"/>
          <p:cNvSpPr/>
          <p:nvPr/>
        </p:nvSpPr>
        <p:spPr>
          <a:xfrm>
            <a:off x="6510528" y="3429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endpoints: login, health</a:t>
            </a:r>
            <a:endParaRPr lang="en-US" sz="1200" dirty="0"/>
          </a:p>
        </p:txBody>
      </p:sp>
      <p:sp>
        <p:nvSpPr>
          <p:cNvPr id="9" name="deco-card-2"/>
          <p:cNvSpPr/>
          <p:nvPr/>
        </p:nvSpPr>
        <p:spPr>
          <a:xfrm>
            <a:off x="9116568" y="2194560"/>
            <a:ext cx="2459736" cy="246888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slides-field:Block"/>
          <p:cNvSpPr/>
          <p:nvPr/>
        </p:nvSpPr>
        <p:spPr>
          <a:xfrm>
            <a:off x="9345168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completo</a:t>
            </a:r>
            <a:endParaRPr lang="en-US" sz="1800" dirty="0"/>
          </a:p>
        </p:txBody>
      </p:sp>
      <p:sp>
        <p:nvSpPr>
          <p:cNvPr id="11" name="slides-field:Block"/>
          <p:cNvSpPr/>
          <p:nvPr/>
        </p:nvSpPr>
        <p:spPr>
          <a:xfrm>
            <a:off x="9345168" y="3429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endpoints: model, data, query, stats, export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field:Title"/>
          <p:cNvSpPr/>
          <p:nvPr/>
        </p:nvSpPr>
        <p:spPr>
          <a:xfrm>
            <a:off x="609905" y="594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Verificado contra producción</a:t>
            </a:r>
            <a:endParaRPr lang="en-US" sz="3200" dirty="0"/>
          </a:p>
        </p:txBody>
      </p:sp>
      <p:sp>
        <p:nvSpPr>
          <p:cNvPr id="3" name="deco-rule-stats"/>
          <p:cNvSpPr/>
          <p:nvPr/>
        </p:nvSpPr>
        <p:spPr>
          <a:xfrm>
            <a:off x="609905" y="2651760"/>
            <a:ext cx="10971886" cy="0"/>
          </a:xfrm>
          <a:prstGeom prst="line">
            <a:avLst/>
          </a:prstGeom>
          <a:noFill/>
          <a:ln w="25400">
            <a:solidFill>
              <a:srgbClr val="0B1220">
                <a:alpha val="40000"/>
              </a:srgbClr>
            </a:solidFill>
            <a:prstDash val="solid"/>
          </a:ln>
        </p:spPr>
      </p:sp>
      <p:sp>
        <p:nvSpPr>
          <p:cNvPr id="4" name="slides-field:Block"/>
          <p:cNvSpPr/>
          <p:nvPr/>
        </p:nvSpPr>
        <p:spPr>
          <a:xfrm>
            <a:off x="609905" y="2926080"/>
            <a:ext cx="2605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2,8M</a:t>
            </a:r>
            <a:endParaRPr lang="en-US" sz="3200" dirty="0"/>
          </a:p>
        </p:txBody>
      </p:sp>
      <p:sp>
        <p:nvSpPr>
          <p:cNvPr id="5" name="slides-field:Block"/>
          <p:cNvSpPr/>
          <p:nvPr/>
        </p:nvSpPr>
        <p:spPr>
          <a:xfrm>
            <a:off x="609905" y="4069080"/>
            <a:ext cx="26058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filas servidas</a:t>
            </a:r>
            <a:endParaRPr lang="en-US" sz="1200" dirty="0"/>
          </a:p>
        </p:txBody>
      </p:sp>
      <p:sp>
        <p:nvSpPr>
          <p:cNvPr id="6" name="slides-field:Block"/>
          <p:cNvSpPr/>
          <p:nvPr/>
        </p:nvSpPr>
        <p:spPr>
          <a:xfrm>
            <a:off x="3398596" y="2926080"/>
            <a:ext cx="2605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13/13</a:t>
            </a:r>
            <a:endParaRPr lang="en-US" sz="3200" dirty="0"/>
          </a:p>
        </p:txBody>
      </p:sp>
      <p:sp>
        <p:nvSpPr>
          <p:cNvPr id="7" name="slides-field:Block"/>
          <p:cNvSpPr/>
          <p:nvPr/>
        </p:nvSpPr>
        <p:spPr>
          <a:xfrm>
            <a:off x="3398596" y="4069080"/>
            <a:ext cx="26058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de humo</a:t>
            </a:r>
            <a:endParaRPr lang="en-US" sz="1200" dirty="0"/>
          </a:p>
        </p:txBody>
      </p:sp>
      <p:sp>
        <p:nvSpPr>
          <p:cNvPr id="8" name="slides-lead"/>
          <p:cNvSpPr/>
          <p:nvPr/>
        </p:nvSpPr>
        <p:spPr>
          <a:xfrm>
            <a:off x="6187288" y="2926080"/>
            <a:ext cx="2605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201/201</a:t>
            </a:r>
            <a:endParaRPr lang="en-US" sz="4800" dirty="0"/>
          </a:p>
        </p:txBody>
      </p:sp>
      <p:sp>
        <p:nvSpPr>
          <p:cNvPr id="9" name="slides-field:Block"/>
          <p:cNvSpPr/>
          <p:nvPr/>
        </p:nvSpPr>
        <p:spPr>
          <a:xfrm>
            <a:off x="6187288" y="4069080"/>
            <a:ext cx="26058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checksums vs productor</a:t>
            </a:r>
            <a:endParaRPr lang="en-US" sz="1200" dirty="0"/>
          </a:p>
        </p:txBody>
      </p:sp>
      <p:sp>
        <p:nvSpPr>
          <p:cNvPr id="10" name="slides-field:Block"/>
          <p:cNvSpPr/>
          <p:nvPr/>
        </p:nvSpPr>
        <p:spPr>
          <a:xfrm>
            <a:off x="8975979" y="2926080"/>
            <a:ext cx="2605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8s</a:t>
            </a:r>
            <a:endParaRPr lang="en-US" sz="3200" dirty="0"/>
          </a:p>
        </p:txBody>
      </p:sp>
      <p:sp>
        <p:nvSpPr>
          <p:cNvPr id="11" name="slides-field:Block"/>
          <p:cNvSpPr/>
          <p:nvPr/>
        </p:nvSpPr>
        <p:spPr>
          <a:xfrm>
            <a:off x="8975979" y="4069080"/>
            <a:ext cx="26058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en frío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en esta máquina</a:t>
            </a:r>
            <a:endParaRPr lang="en-US" sz="3200" dirty="0"/>
          </a:p>
        </p:txBody>
      </p:sp>
      <p:sp>
        <p:nvSpPr>
          <p:cNvPr id="3" name="deco-verdict-winner"/>
          <p:cNvSpPr/>
          <p:nvPr/>
        </p:nvSpPr>
        <p:spPr>
          <a:xfrm>
            <a:off x="609905" y="2194560"/>
            <a:ext cx="5202936" cy="30175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" name="slides-field:Block"/>
          <p:cNvSpPr/>
          <p:nvPr/>
        </p:nvSpPr>
        <p:spPr>
          <a:xfrm>
            <a:off x="929945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WSL2 + forwarder</a:t>
            </a:r>
            <a:endParaRPr lang="en-US" sz="1800" dirty="0"/>
          </a:p>
        </p:txBody>
      </p:sp>
      <p:sp>
        <p:nvSpPr>
          <p:cNvPr id="5" name="slides-field:Block"/>
          <p:cNvSpPr/>
          <p:nvPr/>
        </p:nvSpPr>
        <p:spPr>
          <a:xfrm>
            <a:off x="929945" y="33375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funciona: API Go en Ubuntu, snapshot en ext4 y forwarder Python en el 8090, sin admin</a:t>
            </a:r>
            <a:endParaRPr lang="en-US" sz="1800" dirty="0"/>
          </a:p>
        </p:txBody>
      </p:sp>
      <p:sp>
        <p:nvSpPr>
          <p:cNvPr id="6" name="deco-verdict-loser"/>
          <p:cNvSpPr/>
          <p:nvPr/>
        </p:nvSpPr>
        <p:spPr>
          <a:xfrm>
            <a:off x="6373368" y="2194560"/>
            <a:ext cx="5202936" cy="301752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slides-field:Block"/>
          <p:cNvSpPr/>
          <p:nvPr/>
        </p:nvSpPr>
        <p:spPr>
          <a:xfrm>
            <a:off x="6693408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nativo</a:t>
            </a:r>
            <a:endParaRPr lang="en-US" sz="1800" dirty="0"/>
          </a:p>
        </p:txBody>
      </p:sp>
      <p:sp>
        <p:nvSpPr>
          <p:cNvPr id="8" name="slides-field:Block"/>
          <p:cNvSpPr/>
          <p:nvPr/>
        </p:nvSpPr>
        <p:spPr>
          <a:xfrm>
            <a:off x="6693408" y="33375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bloqueado: FortiEDR impide el listen() de binarios Go sin cadena de firma confiable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itle-content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por diseño</a:t>
            </a:r>
            <a:endParaRPr lang="en-US" sz="3200" dirty="0"/>
          </a:p>
        </p:txBody>
      </p:sp>
      <p:sp>
        <p:nvSpPr>
          <p:cNvPr id="3" name="slides-field:Body"/>
          <p:cNvSpPr/>
          <p:nvPr/>
        </p:nvSpPr>
        <p:spPr>
          <a:xfrm>
            <a:off x="609905" y="16459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conexión SQLite abre en mode=ro con query_only: escribir es imposible. La whitelist expone 24 objetos y deja fuera audit_log, sync_log y sync_months. El login compara credenciales en constant-time y emite un token HMAC con expiración.</a:t>
            </a:r>
            <a:endParaRPr lang="en-US" sz="1800" dirty="0"/>
          </a:p>
        </p:txBody>
      </p:sp>
      <p:sp>
        <p:nvSpPr>
          <p:cNvPr id="4" name="deco-layer-box-1"/>
          <p:cNvSpPr/>
          <p:nvPr/>
        </p:nvSpPr>
        <p:spPr>
          <a:xfrm>
            <a:off x="609905" y="3200400"/>
            <a:ext cx="8686800" cy="77724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lides-field:Block"/>
          <p:cNvSpPr/>
          <p:nvPr/>
        </p:nvSpPr>
        <p:spPr>
          <a:xfrm>
            <a:off x="884225" y="3364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mode=ro + query_only</a:t>
            </a:r>
            <a:endParaRPr lang="en-US" sz="1800" dirty="0"/>
          </a:p>
        </p:txBody>
      </p:sp>
      <p:sp>
        <p:nvSpPr>
          <p:cNvPr id="6" name="slides-field:Block"/>
          <p:cNvSpPr/>
          <p:nvPr/>
        </p:nvSpPr>
        <p:spPr>
          <a:xfrm>
            <a:off x="5273345" y="3456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conexión no puede escribir</a:t>
            </a:r>
            <a:endParaRPr lang="en-US" sz="1200" dirty="0"/>
          </a:p>
        </p:txBody>
      </p:sp>
      <p:sp>
        <p:nvSpPr>
          <p:cNvPr id="7" name="deco-layer-box-2"/>
          <p:cNvSpPr/>
          <p:nvPr/>
        </p:nvSpPr>
        <p:spPr>
          <a:xfrm>
            <a:off x="609905" y="4160520"/>
            <a:ext cx="8686800" cy="77724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slides-field:Block"/>
          <p:cNvSpPr/>
          <p:nvPr/>
        </p:nvSpPr>
        <p:spPr>
          <a:xfrm>
            <a:off x="884225" y="43251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whitelist de 24 objetos</a:t>
            </a:r>
            <a:endParaRPr lang="en-US" sz="1800" dirty="0"/>
          </a:p>
        </p:txBody>
      </p:sp>
      <p:sp>
        <p:nvSpPr>
          <p:cNvPr id="9" name="slides-field:Block"/>
          <p:cNvSpPr/>
          <p:nvPr/>
        </p:nvSpPr>
        <p:spPr>
          <a:xfrm>
            <a:off x="5273345" y="4416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audit_log y sync_log quedan fuera</a:t>
            </a:r>
            <a:endParaRPr lang="en-US" sz="1200" dirty="0"/>
          </a:p>
        </p:txBody>
      </p:sp>
      <p:sp>
        <p:nvSpPr>
          <p:cNvPr id="10" name="deco-layer-box-3"/>
          <p:cNvSpPr/>
          <p:nvPr/>
        </p:nvSpPr>
        <p:spPr>
          <a:xfrm>
            <a:off x="609905" y="5120640"/>
            <a:ext cx="8686800" cy="77724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slides-field:Block"/>
          <p:cNvSpPr/>
          <p:nvPr/>
        </p:nvSpPr>
        <p:spPr>
          <a:xfrm>
            <a:off x="884225" y="5285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HMAC con expiración</a:t>
            </a:r>
            <a:endParaRPr lang="en-US" sz="1800" dirty="0"/>
          </a:p>
        </p:txBody>
      </p:sp>
      <p:sp>
        <p:nvSpPr>
          <p:cNvPr id="12" name="slides-field:Block"/>
          <p:cNvSpPr/>
          <p:nvPr/>
        </p:nvSpPr>
        <p:spPr>
          <a:xfrm>
            <a:off x="5273345" y="5376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credenciales intranet en constant-time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2: el cliente deja el SMB</a:t>
            </a:r>
            <a:endParaRPr lang="en-US" sz="3200" dirty="0"/>
          </a:p>
        </p:txBody>
      </p:sp>
      <p:sp>
        <p:nvSpPr>
          <p:cNvPr id="3" name="deco-phase-arrow-1"/>
          <p:cNvSpPr/>
          <p:nvPr/>
        </p:nvSpPr>
        <p:spPr>
          <a:xfrm>
            <a:off x="3801161" y="3383280"/>
            <a:ext cx="685800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4" name="deco-phase-box-1"/>
          <p:cNvSpPr/>
          <p:nvPr/>
        </p:nvSpPr>
        <p:spPr>
          <a:xfrm>
            <a:off x="609905" y="2286000"/>
            <a:ext cx="3191256" cy="219456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lides-field:Block"/>
          <p:cNvSpPr/>
          <p:nvPr/>
        </p:nvSpPr>
        <p:spPr>
          <a:xfrm>
            <a:off x="838505" y="25146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</a:t>
            </a:r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Adaptador Python</a:t>
            </a:r>
            <a:endParaRPr lang="en-US" sz="1800" dirty="0"/>
          </a:p>
        </p:txBody>
      </p:sp>
      <p:sp>
        <p:nvSpPr>
          <p:cNvPr id="6" name="slides-field:Block"/>
          <p:cNvSpPr/>
          <p:nvPr/>
        </p:nvSpPr>
        <p:spPr>
          <a:xfrm>
            <a:off x="838505" y="34290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reemplaza db_network.py: login, checksums, folios, by-folios</a:t>
            </a:r>
            <a:endParaRPr lang="en-US" sz="1200" dirty="0"/>
          </a:p>
        </p:txBody>
      </p:sp>
      <p:sp>
        <p:nvSpPr>
          <p:cNvPr id="7" name="deco-phase-arrow-2"/>
          <p:cNvSpPr/>
          <p:nvPr/>
        </p:nvSpPr>
        <p:spPr>
          <a:xfrm>
            <a:off x="7687361" y="3383280"/>
            <a:ext cx="685800" cy="0"/>
          </a:xfrm>
          <a:prstGeom prst="line">
            <a:avLst/>
          </a:prstGeom>
          <a:noFill/>
          <a:ln w="2540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8" name="deco-phase-box-2"/>
          <p:cNvSpPr/>
          <p:nvPr/>
        </p:nvSpPr>
        <p:spPr>
          <a:xfrm>
            <a:off x="4496105" y="2286000"/>
            <a:ext cx="3191256" cy="219456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slides-field:Block"/>
          <p:cNvSpPr/>
          <p:nvPr/>
        </p:nvSpPr>
        <p:spPr>
          <a:xfrm>
            <a:off x="4724705" y="25146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</a:t>
            </a:r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</a:t>
            </a:r>
            <a:endParaRPr lang="en-US" sz="1800" dirty="0"/>
          </a:p>
        </p:txBody>
      </p:sp>
      <p:sp>
        <p:nvSpPr>
          <p:cNvPr id="10" name="slides-field:Block"/>
          <p:cNvSpPr/>
          <p:nvPr/>
        </p:nvSpPr>
        <p:spPr>
          <a:xfrm>
            <a:off x="4724705" y="34290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 contra SMB en un mes real de datos</a:t>
            </a:r>
            <a:endParaRPr lang="en-US" sz="1200" dirty="0"/>
          </a:p>
        </p:txBody>
      </p:sp>
      <p:sp>
        <p:nvSpPr>
          <p:cNvPr id="11" name="deco-phase-box-3"/>
          <p:cNvSpPr/>
          <p:nvPr/>
        </p:nvSpPr>
        <p:spPr>
          <a:xfrm>
            <a:off x="8382305" y="2286000"/>
            <a:ext cx="3191256" cy="2194560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slides-field:Block"/>
          <p:cNvSpPr/>
          <p:nvPr/>
        </p:nvSpPr>
        <p:spPr>
          <a:xfrm>
            <a:off x="8610905" y="25146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</a:t>
            </a:r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Producción</a:t>
            </a:r>
            <a:endParaRPr lang="en-US" sz="1800" dirty="0"/>
          </a:p>
        </p:txBody>
      </p:sp>
      <p:sp>
        <p:nvSpPr>
          <p:cNvPr id="13" name="slides-field:Block"/>
          <p:cNvSpPr/>
          <p:nvPr/>
        </p:nvSpPr>
        <p:spPr>
          <a:xfrm>
            <a:off x="8610905" y="34290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en la intranet y excepción FortiEDR si se corre nativo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statem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Statement"/>
          <p:cNvSpPr/>
          <p:nvPr/>
        </p:nvSpPr>
        <p:spPr>
          <a:xfrm>
            <a:off x="609905" y="24688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 base canónica, servida por HTTP a toda la intranet.</a:t>
            </a:r>
            <a:endParaRPr lang="en-US" sz="4800" dirty="0"/>
          </a:p>
        </p:txBody>
      </p:sp>
      <p:sp>
        <p:nvSpPr>
          <p:cNvPr id="3" name="slides-ghost-link-1"/>
          <p:cNvSpPr/>
          <p:nvPr/>
        </p:nvSpPr>
        <p:spPr>
          <a:xfrm>
            <a:off x="9902952" y="5907024"/>
            <a:ext cx="384048" cy="0"/>
          </a:xfrm>
          <a:prstGeom prst="line">
            <a:avLst/>
          </a:prstGeom>
          <a:noFill/>
          <a:ln w="19050">
            <a:solidFill>
              <a:srgbClr val="94A3B8">
                <a:alpha val="28000"/>
              </a:srgbClr>
            </a:solidFill>
            <a:prstDash val="solid"/>
            <a:tailEnd type="triangle"/>
          </a:ln>
        </p:spPr>
      </p:sp>
      <p:sp>
        <p:nvSpPr>
          <p:cNvPr id="4" name="slides-ghost-link-2"/>
          <p:cNvSpPr/>
          <p:nvPr/>
        </p:nvSpPr>
        <p:spPr>
          <a:xfrm>
            <a:off x="10543032" y="5907024"/>
            <a:ext cx="384048" cy="0"/>
          </a:xfrm>
          <a:prstGeom prst="line">
            <a:avLst/>
          </a:prstGeom>
          <a:noFill/>
          <a:ln w="19050">
            <a:solidFill>
              <a:srgbClr val="94A3B8">
                <a:alpha val="28000"/>
              </a:srgbClr>
            </a:solidFill>
            <a:prstDash val="solid"/>
            <a:tailEnd type="triangle"/>
          </a:ln>
        </p:spPr>
      </p:sp>
      <p:sp>
        <p:nvSpPr>
          <p:cNvPr id="5" name="slides-ghost-node-1"/>
          <p:cNvSpPr/>
          <p:nvPr/>
        </p:nvSpPr>
        <p:spPr>
          <a:xfrm>
            <a:off x="9646920" y="5779008"/>
            <a:ext cx="256032" cy="256032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6" name="slides-ghost-node-2"/>
          <p:cNvSpPr/>
          <p:nvPr/>
        </p:nvSpPr>
        <p:spPr>
          <a:xfrm>
            <a:off x="10287000" y="5779008"/>
            <a:ext cx="256032" cy="256032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7" name="slides-ghost-node-3"/>
          <p:cNvSpPr/>
          <p:nvPr/>
        </p:nvSpPr>
        <p:spPr>
          <a:xfrm>
            <a:off x="10927080" y="5779008"/>
            <a:ext cx="256032" cy="256032"/>
          </a:xfrm>
          <a:prstGeom prst="rect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2026-10-01T23:09:55Z</dcterms:created>
  <dcterms:modified xsi:type="dcterms:W3CDTF">2026-10-01T23:09:55Z</dcterms:modified>
  <dc:description>slides-spec: g360-ventas-api.deck.md sha256:3668117a656aa16e0d5af2d900455578060ade3d068972a562614dce17fedded</dc:description>
</cp:coreProperties>
</file>